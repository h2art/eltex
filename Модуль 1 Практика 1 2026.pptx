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303" r:id="rId4"/>
    <p:sldId id="304" r:id="rId5"/>
    <p:sldId id="258" r:id="rId6"/>
    <p:sldId id="259" r:id="rId7"/>
    <p:sldId id="260" r:id="rId8"/>
    <p:sldId id="261" r:id="rId9"/>
    <p:sldId id="262" r:id="rId10"/>
    <p:sldId id="307" r:id="rId11"/>
    <p:sldId id="308" r:id="rId12"/>
    <p:sldId id="309" r:id="rId13"/>
    <p:sldId id="310" r:id="rId14"/>
    <p:sldId id="263" r:id="rId15"/>
    <p:sldId id="264" r:id="rId16"/>
    <p:sldId id="265" r:id="rId17"/>
    <p:sldId id="266" r:id="rId18"/>
    <p:sldId id="311" r:id="rId19"/>
    <p:sldId id="312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305" r:id="rId43"/>
    <p:sldId id="289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13" r:id="rId53"/>
    <p:sldId id="314" r:id="rId54"/>
    <p:sldId id="306" r:id="rId55"/>
    <p:sldId id="316" r:id="rId56"/>
    <p:sldId id="317" r:id="rId57"/>
    <p:sldId id="318" r:id="rId58"/>
    <p:sldId id="319" r:id="rId59"/>
  </p:sldIdLst>
  <p:sldSz cx="12192000" cy="6858000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Merriweather Sans" panose="020B0604020202020204" charset="0"/>
      <p:regular r:id="rId65"/>
      <p:bold r:id="rId66"/>
      <p:italic r:id="rId67"/>
      <p:boldItalic r:id="rId68"/>
    </p:embeddedFont>
    <p:embeddedFont>
      <p:font typeface="Roboto" panose="020B060402020202020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hjswo7fNb6RE4oLZ/FoNH04lD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-48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54097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Элтекс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Модуль </a:t>
            </a:r>
            <a:r>
              <a:rPr lang="ru-RU" dirty="0" smtClean="0"/>
              <a:t>1</a:t>
            </a:r>
            <a:endParaRPr lang="en-US" dirty="0" smtClean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 smtClean="0"/>
              <a:t>Практика 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BASH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Bourne again shell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Командный процессор, который работает интерактивно в окне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Используется для приема команд пользователя и отправки команд ОС для обработки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1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Структура команды</a:t>
            </a:r>
            <a:endParaRPr dirty="0"/>
          </a:p>
        </p:txBody>
      </p:sp>
      <p:sp>
        <p:nvSpPr>
          <p:cNvPr id="356" name="Google Shape;356;p46"/>
          <p:cNvSpPr txBox="1">
            <a:spLocks noGrp="1"/>
          </p:cNvSpPr>
          <p:nvPr>
            <p:ph type="body" idx="1"/>
          </p:nvPr>
        </p:nvSpPr>
        <p:spPr>
          <a:xfrm>
            <a:off x="623392" y="915034"/>
            <a:ext cx="10225136" cy="594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/>
              <a:t>Структура </a:t>
            </a:r>
            <a:r>
              <a:rPr lang="ru-RU" sz="2600" dirty="0"/>
              <a:t>командной строки имеет следующий вид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	</a:t>
            </a:r>
            <a:r>
              <a:rPr lang="ru-RU" sz="2600" dirty="0" err="1" smtClean="0">
                <a:solidFill>
                  <a:srgbClr val="FF0000"/>
                </a:solidFill>
              </a:rPr>
              <a:t>имя_команды</a:t>
            </a:r>
            <a:r>
              <a:rPr lang="ru-RU" sz="2600" dirty="0" smtClean="0"/>
              <a:t> </a:t>
            </a:r>
            <a:r>
              <a:rPr lang="ru-RU" sz="2600" dirty="0"/>
              <a:t>параметры аргументы</a:t>
            </a:r>
          </a:p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>
                <a:solidFill>
                  <a:srgbClr val="00B050"/>
                </a:solidFill>
              </a:rPr>
              <a:t>Параметры</a:t>
            </a:r>
            <a:r>
              <a:rPr lang="ru-RU" sz="2600" dirty="0" smtClean="0"/>
              <a:t> </a:t>
            </a:r>
            <a:r>
              <a:rPr lang="ru-RU" sz="2600" dirty="0"/>
              <a:t>(</a:t>
            </a:r>
            <a:r>
              <a:rPr lang="ru-RU" sz="2600" dirty="0" err="1"/>
              <a:t>options</a:t>
            </a:r>
            <a:r>
              <a:rPr lang="ru-RU" sz="2600" dirty="0"/>
              <a:t>, опции) - изменяют поведение команды</a:t>
            </a:r>
          </a:p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>
                <a:solidFill>
                  <a:srgbClr val="0070C0"/>
                </a:solidFill>
              </a:rPr>
              <a:t>Аргументы</a:t>
            </a:r>
            <a:r>
              <a:rPr lang="ru-RU" sz="2600" dirty="0" smtClean="0"/>
              <a:t> </a:t>
            </a:r>
            <a:r>
              <a:rPr lang="ru-RU" sz="2600" dirty="0"/>
              <a:t>- объекты, на которые команда воздействует. Часто в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600" dirty="0"/>
              <a:t> </a:t>
            </a:r>
            <a:r>
              <a:rPr lang="en-US" sz="2600" dirty="0" smtClean="0"/>
              <a:t>     </a:t>
            </a:r>
            <a:r>
              <a:rPr lang="ru-RU" sz="2600" dirty="0" smtClean="0"/>
              <a:t>качестве </a:t>
            </a:r>
            <a:r>
              <a:rPr lang="ru-RU" sz="2600" dirty="0"/>
              <a:t>объектов выступают файлы и каталоги</a:t>
            </a:r>
          </a:p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/>
              <a:t>Разделителем </a:t>
            </a:r>
            <a:r>
              <a:rPr lang="ru-RU" sz="2600" dirty="0"/>
              <a:t>между частями командной строки является пробельный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600" dirty="0"/>
              <a:t> </a:t>
            </a:r>
            <a:r>
              <a:rPr lang="en-US" sz="2600" dirty="0" smtClean="0"/>
              <a:t>     </a:t>
            </a:r>
            <a:r>
              <a:rPr lang="ru-RU" sz="2600" dirty="0" smtClean="0"/>
              <a:t>символ </a:t>
            </a:r>
            <a:r>
              <a:rPr lang="ru-RU" sz="2600" dirty="0"/>
              <a:t>(</a:t>
            </a:r>
            <a:r>
              <a:rPr lang="ru-RU" sz="2600" dirty="0" err="1"/>
              <a:t>whitespace</a:t>
            </a:r>
            <a:r>
              <a:rPr lang="ru-RU" sz="2600" dirty="0"/>
              <a:t>): пробел или табуляция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	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2600" dirty="0">
                <a:solidFill>
                  <a:srgbClr val="FF0000"/>
                </a:solidFill>
              </a:rPr>
              <a:t>	</a:t>
            </a:r>
            <a:r>
              <a:rPr lang="en-US" sz="2600" dirty="0" smtClean="0">
                <a:solidFill>
                  <a:srgbClr val="FF0000"/>
                </a:solidFill>
              </a:rPr>
              <a:t>ls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B050"/>
                </a:solidFill>
              </a:rPr>
              <a:t>–al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70C0"/>
                </a:solidFill>
              </a:rPr>
              <a:t>/bin /</a:t>
            </a:r>
            <a:r>
              <a:rPr lang="en-US" sz="2600" dirty="0" err="1" smtClean="0">
                <a:solidFill>
                  <a:srgbClr val="0070C0"/>
                </a:solidFill>
              </a:rPr>
              <a:t>sbin</a:t>
            </a:r>
            <a:endParaRPr lang="en-US" sz="2600" dirty="0" smtClean="0">
              <a:solidFill>
                <a:srgbClr val="0070C0"/>
              </a:solidFill>
            </a:endParaRP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dirty="0" smtClean="0"/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ru-RU" sz="2600" dirty="0" smtClean="0"/>
              <a:t>Поддерживаются </a:t>
            </a:r>
            <a:r>
              <a:rPr lang="ru-RU" sz="2600" dirty="0"/>
              <a:t>следующие форматы записи параметров: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600" dirty="0" smtClean="0"/>
              <a:t>Формат </a:t>
            </a:r>
            <a:r>
              <a:rPr lang="ru-RU" sz="2600" dirty="0"/>
              <a:t>POSIX</a:t>
            </a:r>
          </a:p>
          <a:p>
            <a:pPr lvl="1" indent="-457200">
              <a:spcBef>
                <a:spcPts val="0"/>
              </a:spcBef>
              <a:buSzPct val="100000"/>
            </a:pPr>
            <a:r>
              <a:rPr lang="ru-RU" sz="2600" dirty="0" smtClean="0"/>
              <a:t>параметры </a:t>
            </a:r>
            <a:r>
              <a:rPr lang="ru-RU" sz="2600" dirty="0" err="1"/>
              <a:t>односимвольные</a:t>
            </a:r>
            <a:endParaRPr lang="ru-RU" sz="2600" dirty="0"/>
          </a:p>
          <a:p>
            <a:pPr lvl="1" indent="-457200">
              <a:spcBef>
                <a:spcPts val="0"/>
              </a:spcBef>
              <a:buSzPct val="100000"/>
            </a:pPr>
            <a:r>
              <a:rPr lang="ru-RU" sz="2600" dirty="0" smtClean="0"/>
              <a:t>перед </a:t>
            </a:r>
            <a:r>
              <a:rPr lang="ru-RU" sz="2600" dirty="0"/>
              <a:t>параметром ставится символ минус («-»)</a:t>
            </a:r>
          </a:p>
          <a:p>
            <a:pPr lvl="1" indent="-457200">
              <a:spcBef>
                <a:spcPts val="0"/>
              </a:spcBef>
              <a:buSzPct val="100000"/>
            </a:pPr>
            <a:r>
              <a:rPr lang="ru-RU" sz="2600" dirty="0" smtClean="0"/>
              <a:t>параметры </a:t>
            </a:r>
            <a:r>
              <a:rPr lang="ru-RU" sz="2600" dirty="0"/>
              <a:t>могут «склеиваться»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600" dirty="0" smtClean="0"/>
              <a:t>Формат </a:t>
            </a:r>
            <a:r>
              <a:rPr lang="ru-RU" sz="2600" dirty="0"/>
              <a:t>BSD</a:t>
            </a:r>
          </a:p>
          <a:p>
            <a:pPr lvl="1" indent="-457200">
              <a:spcBef>
                <a:spcPts val="0"/>
              </a:spcBef>
              <a:buSzPct val="100000"/>
            </a:pPr>
            <a:r>
              <a:rPr lang="ru-RU" sz="2600" dirty="0" smtClean="0"/>
              <a:t>перед </a:t>
            </a:r>
            <a:r>
              <a:rPr lang="ru-RU" sz="2600" dirty="0"/>
              <a:t>параметром не ставится минус, в остальном как в POSIX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600" dirty="0" smtClean="0"/>
              <a:t>Формат </a:t>
            </a:r>
            <a:r>
              <a:rPr lang="ru-RU" sz="2600" dirty="0"/>
              <a:t>GNU (длинный параметр, </a:t>
            </a:r>
            <a:r>
              <a:rPr lang="ru-RU" sz="2600" dirty="0" err="1"/>
              <a:t>long</a:t>
            </a:r>
            <a:r>
              <a:rPr lang="ru-RU" sz="2600" dirty="0"/>
              <a:t> </a:t>
            </a:r>
            <a:r>
              <a:rPr lang="ru-RU" sz="2600" dirty="0" err="1"/>
              <a:t>options</a:t>
            </a:r>
            <a:r>
              <a:rPr lang="ru-RU" sz="2600" dirty="0"/>
              <a:t>)</a:t>
            </a:r>
          </a:p>
          <a:p>
            <a:pPr lvl="1" indent="-457200">
              <a:spcBef>
                <a:spcPts val="0"/>
              </a:spcBef>
              <a:buSzPct val="100000"/>
            </a:pPr>
            <a:r>
              <a:rPr lang="ru-RU" sz="2600" dirty="0" smtClean="0"/>
              <a:t>параметр </a:t>
            </a:r>
            <a:r>
              <a:rPr lang="ru-RU" sz="2600" dirty="0"/>
              <a:t>- слово и два минуса перед ним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218192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1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Многострочные команды</a:t>
            </a:r>
            <a:endParaRPr dirty="0"/>
          </a:p>
        </p:txBody>
      </p:sp>
      <p:sp>
        <p:nvSpPr>
          <p:cNvPr id="356" name="Google Shape;356;p46"/>
          <p:cNvSpPr txBox="1">
            <a:spLocks noGrp="1"/>
          </p:cNvSpPr>
          <p:nvPr>
            <p:ph type="body" idx="1"/>
          </p:nvPr>
        </p:nvSpPr>
        <p:spPr>
          <a:xfrm>
            <a:off x="623392" y="915035"/>
            <a:ext cx="11089232" cy="481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ct val="100000"/>
            </a:pPr>
            <a:r>
              <a:rPr lang="ru-RU" sz="2600" dirty="0"/>
              <a:t>В одной строке можно написать несколько команд, разделяя их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/>
              <a:t> </a:t>
            </a:r>
            <a:r>
              <a:rPr lang="en-US" sz="2600" dirty="0" smtClean="0"/>
              <a:t>     </a:t>
            </a:r>
            <a:r>
              <a:rPr lang="ru-RU" sz="2600" dirty="0" smtClean="0"/>
              <a:t>символом </a:t>
            </a:r>
            <a:r>
              <a:rPr lang="ru-RU" sz="2600" dirty="0"/>
              <a:t>«;». Команды будут выполняться последовательно.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    </a:t>
            </a:r>
            <a:r>
              <a:rPr lang="ru-RU" sz="2600" dirty="0" smtClean="0"/>
              <a:t>команда1</a:t>
            </a:r>
            <a:r>
              <a:rPr lang="ru-RU" sz="2600" dirty="0"/>
              <a:t>; команда2; </a:t>
            </a:r>
            <a:r>
              <a:rPr lang="ru-RU" sz="2600" dirty="0" smtClean="0"/>
              <a:t>команда3</a:t>
            </a:r>
            <a:endParaRPr lang="en-US" sz="26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ru-RU" sz="2600" dirty="0"/>
          </a:p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/>
              <a:t>Условное </a:t>
            </a:r>
            <a:r>
              <a:rPr lang="ru-RU" sz="2600" dirty="0"/>
              <a:t>выполнение команд (выполнение команды зависит от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</a:t>
            </a:r>
            <a:r>
              <a:rPr lang="ru-RU" sz="2600" dirty="0" smtClean="0"/>
              <a:t>успешности </a:t>
            </a:r>
            <a:r>
              <a:rPr lang="ru-RU" sz="2600" dirty="0"/>
              <a:t>выполнения предыдущей) осуществляется путем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</a:t>
            </a:r>
            <a:r>
              <a:rPr lang="ru-RU" sz="2600" dirty="0" smtClean="0"/>
              <a:t>помещения </a:t>
            </a:r>
            <a:r>
              <a:rPr lang="ru-RU" sz="2600" dirty="0"/>
              <a:t>символов «&amp;&amp;» (логическое И) и «||» (логическое ИЛИ)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</a:t>
            </a:r>
            <a:r>
              <a:rPr lang="ru-RU" sz="2600" dirty="0" smtClean="0"/>
              <a:t>между </a:t>
            </a:r>
            <a:r>
              <a:rPr lang="ru-RU" sz="2600" dirty="0"/>
              <a:t>командами.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       </a:t>
            </a:r>
            <a:r>
              <a:rPr lang="ru-RU" sz="2600" dirty="0" smtClean="0"/>
              <a:t>команда1 </a:t>
            </a:r>
            <a:r>
              <a:rPr lang="ru-RU" sz="2600" dirty="0"/>
              <a:t>|| команда2 &amp;&amp; </a:t>
            </a:r>
            <a:r>
              <a:rPr lang="ru-RU" sz="2600" dirty="0" smtClean="0"/>
              <a:t>команда3</a:t>
            </a:r>
            <a:endParaRPr lang="en-US" sz="26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ru-RU" sz="2600" dirty="0"/>
          </a:p>
          <a:p>
            <a:pPr indent="-457200">
              <a:spcBef>
                <a:spcPts val="0"/>
              </a:spcBef>
              <a:buSzPct val="100000"/>
            </a:pPr>
            <a:r>
              <a:rPr lang="ru-RU" sz="2600" dirty="0" smtClean="0"/>
              <a:t>Длинные </a:t>
            </a:r>
            <a:r>
              <a:rPr lang="ru-RU" sz="2600" dirty="0"/>
              <a:t>командные строки можно разбить на несколько строчек с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600" dirty="0" smtClean="0"/>
              <a:t>      </a:t>
            </a:r>
            <a:r>
              <a:rPr lang="ru-RU" sz="2600" dirty="0" smtClean="0"/>
              <a:t>помощью </a:t>
            </a:r>
            <a:r>
              <a:rPr lang="ru-RU" sz="2600" dirty="0"/>
              <a:t>символа «\» и немедленного нажатия на клавишу </a:t>
            </a:r>
            <a:r>
              <a:rPr lang="ru-RU" sz="2600" dirty="0" err="1"/>
              <a:t>Enter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339933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Доступ к BASH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BASH – оболочка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Взаимодействие оболочки и ОС обеспечивается с помощью терминала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Примеры терминала: lxterm, xterm, gnome-terminal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Полная документация BASH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1160973" y="1807000"/>
            <a:ext cx="11091300" cy="25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https://www.gnu.org/savannah-checkouts/gnu/bash/manual/bash.html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Преимущества BASH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8018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Позволяет работать со структурами «[[» </a:t>
            </a:r>
            <a:endParaRPr b="0"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Поддерживает работу с массивами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Доступно множество расширений, выполненных по стандартам C, включая циклы с тремя аргументами «for((i=0;i&lt;=3;i++))», возможность присваивать инкремент «+=» </a:t>
            </a:r>
            <a:endParaRPr b="0"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Поддерживает синтаксис «&lt;&lt;&lt;‘here strings’»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>
                <a:latin typeface="Times New Roman"/>
                <a:ea typeface="Times New Roman"/>
                <a:cs typeface="Times New Roman"/>
                <a:sym typeface="Times New Roman"/>
              </a:rPr>
              <a:t>Работает с расширениями «.{png,jpg}»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Преимущества BASH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80188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Доступны алиасы для перенаправления, подобно «Csh», подобно «&amp;|» для «2&gt;&amp;1 |» и «&amp;&gt;» для «&gt; … 2&gt;&amp;1»</a:t>
            </a:r>
            <a:endParaRPr b="0" i="0">
              <a:latin typeface="Roboto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Поддерживает сопроцессы с перенаправлением «&lt;&gt;»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Огромный комплект расширений нестандартных конфигураций, включая изменение регистра</a:t>
            </a:r>
            <a:endParaRPr b="0" i="0">
              <a:latin typeface="Roboto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Существенно увеличены возможности арифметики (правда, нет поддержки чисел с плавающей точкой)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Переменные «$RANDOM», «$SECONDS», «$PIPESTATUS[@]» и «$FUNCNAME» в Bash являются расширениями</a:t>
            </a:r>
            <a:endParaRPr b="0" i="0">
              <a:latin typeface="Roboto"/>
              <a:ea typeface="Roboto"/>
              <a:cs typeface="Roboto"/>
              <a:sym typeface="Roboto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>
                <a:latin typeface="Roboto"/>
                <a:ea typeface="Roboto"/>
                <a:cs typeface="Roboto"/>
                <a:sym typeface="Roboto"/>
              </a:rPr>
              <a:t>Доступно огромное количества функций, обеспечивающих работу в интерактивном режиме. Хотя на поведение скриптов они не влияют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Навигация по файловой системе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4739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pwd     Показать текущее местоположение в каталогах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mkdir  Создать новый каталог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	    Перемещение в домашний каталог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 ~	    Перемещение в домашний каталог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 ..	    Перемещение на один уровень выше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 -	    Перемещение в предыдущий каталог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 Directory1	Перемещение в каталог Directory1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cd Directory1/Directory2	Перемещение в каталог Directory2 по указанному пути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Использование символов подстановки</a:t>
            </a:r>
            <a:endParaRPr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473932"/>
            <a:ext cx="11162456" cy="50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 </a:t>
            </a:r>
            <a:r>
              <a:rPr lang="ru-RU" dirty="0"/>
              <a:t>Символы подстановки используются для составления шаблонов для </a:t>
            </a:r>
            <a:r>
              <a:rPr lang="ru-RU" dirty="0" smtClean="0"/>
              <a:t>имен файлов </a:t>
            </a:r>
            <a:r>
              <a:rPr lang="ru-RU" dirty="0"/>
              <a:t>и позволяют работать с группой файлов: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* </a:t>
            </a:r>
            <a:r>
              <a:rPr lang="ru-RU" dirty="0"/>
              <a:t>- заменяет любое количество любых символов, в том числе и </a:t>
            </a:r>
            <a:r>
              <a:rPr lang="ru-RU" dirty="0" smtClean="0"/>
              <a:t>их отсутствие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? </a:t>
            </a:r>
            <a:r>
              <a:rPr lang="ru-RU" dirty="0"/>
              <a:t>- заменяет любой одиночный (непустой) символ</a:t>
            </a:r>
            <a:r>
              <a:rPr lang="ru-RU" dirty="0" smtClean="0"/>
              <a:t>;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[</a:t>
            </a:r>
            <a:r>
              <a:rPr lang="ru-RU" dirty="0" err="1"/>
              <a:t>диапазон_символов</a:t>
            </a:r>
            <a:r>
              <a:rPr lang="ru-RU" dirty="0"/>
              <a:t>] - заменяет одиночный символ из </a:t>
            </a:r>
            <a:r>
              <a:rPr lang="ru-RU" dirty="0" smtClean="0"/>
              <a:t>диапазона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[!</a:t>
            </a:r>
            <a:r>
              <a:rPr lang="ru-RU" dirty="0" err="1"/>
              <a:t>диапазон_символов</a:t>
            </a:r>
            <a:r>
              <a:rPr lang="ru-RU" dirty="0"/>
              <a:t>] - заменяет любой символ из НЕ </a:t>
            </a:r>
            <a:r>
              <a:rPr lang="ru-RU" dirty="0" smtClean="0"/>
              <a:t>диапазона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Имена </a:t>
            </a:r>
            <a:r>
              <a:rPr lang="ru-RU" dirty="0"/>
              <a:t>файлов, начинающихся с точки (т. н. скрытые файлы) </a:t>
            </a:r>
            <a:r>
              <a:rPr lang="ru-RU" dirty="0" smtClean="0"/>
              <a:t>не соответствуют </a:t>
            </a:r>
            <a:r>
              <a:rPr lang="ru-RU" dirty="0"/>
              <a:t>шаблонам, начинающимся с * или </a:t>
            </a:r>
            <a:r>
              <a:rPr lang="ru-RU" dirty="0" smtClean="0"/>
              <a:t>?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ru-RU" dirty="0" smtClean="0"/>
              <a:t>Символ </a:t>
            </a:r>
            <a:r>
              <a:rPr lang="ru-RU" dirty="0"/>
              <a:t>~ соответствует домашнему каталогу текущего пользователя, </a:t>
            </a:r>
            <a:r>
              <a:rPr lang="ru-RU" dirty="0" smtClean="0"/>
              <a:t>а ~</a:t>
            </a:r>
            <a:r>
              <a:rPr lang="ru-RU" dirty="0" err="1" smtClean="0"/>
              <a:t>имя_пользователя</a:t>
            </a:r>
            <a:r>
              <a:rPr lang="ru-RU" dirty="0" smtClean="0"/>
              <a:t> </a:t>
            </a:r>
            <a:r>
              <a:rPr lang="ru-RU" dirty="0"/>
              <a:t>соответствует домашнему указанного пользователя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999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Генерация строк</a:t>
            </a:r>
            <a:endParaRPr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473932"/>
            <a:ext cx="11162456" cy="50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Конструкции типа префикс{строка1,строка2, … ,строка N}постфикс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приводят к созданию </a:t>
            </a:r>
            <a:r>
              <a:rPr lang="ru-RU" dirty="0" smtClean="0"/>
              <a:t>строк префиксстрока1постфикс </a:t>
            </a:r>
            <a:r>
              <a:rPr lang="ru-RU" dirty="0"/>
              <a:t>префиксстрока2постфикс …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Пример</a:t>
            </a:r>
            <a:r>
              <a:rPr lang="ru-RU" dirty="0"/>
              <a:t>: a{</a:t>
            </a:r>
            <a:r>
              <a:rPr lang="ru-RU" dirty="0" err="1"/>
              <a:t>bc</a:t>
            </a:r>
            <a:r>
              <a:rPr lang="ru-RU" dirty="0"/>
              <a:t>, </a:t>
            </a:r>
            <a:r>
              <a:rPr lang="ru-RU" dirty="0" err="1"/>
              <a:t>cd</a:t>
            </a:r>
            <a:r>
              <a:rPr lang="ru-RU" dirty="0"/>
              <a:t>, e} </a:t>
            </a:r>
            <a:r>
              <a:rPr lang="ru-RU" dirty="0" smtClean="0"/>
              <a:t>→ </a:t>
            </a:r>
            <a:r>
              <a:rPr lang="ru-RU" dirty="0" err="1" smtClean="0"/>
              <a:t>abc</a:t>
            </a:r>
            <a:r>
              <a:rPr lang="ru-RU" dirty="0" smtClean="0"/>
              <a:t> </a:t>
            </a:r>
            <a:r>
              <a:rPr lang="ru-RU" dirty="0" err="1"/>
              <a:t>acd</a:t>
            </a:r>
            <a:r>
              <a:rPr lang="ru-RU" dirty="0"/>
              <a:t> </a:t>
            </a:r>
            <a:r>
              <a:rPr lang="ru-RU" dirty="0" err="1" smtClean="0"/>
              <a:t>ae</a:t>
            </a: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/>
              <a:t>В фигурных скобках могут также использоваться числа или </a:t>
            </a:r>
            <a:r>
              <a:rPr lang="ru-RU" dirty="0" smtClean="0"/>
              <a:t>одиночные символы </a:t>
            </a:r>
            <a:r>
              <a:rPr lang="ru-RU" dirty="0"/>
              <a:t>(а не наборы символов). Числа разделяются двум точками, </a:t>
            </a:r>
            <a:r>
              <a:rPr lang="ru-RU" dirty="0" smtClean="0"/>
              <a:t>первое число </a:t>
            </a:r>
            <a:r>
              <a:rPr lang="ru-RU" dirty="0"/>
              <a:t>- начальное значение, второе - конечное, третье </a:t>
            </a:r>
            <a:r>
              <a:rPr lang="ru-RU" dirty="0" smtClean="0"/>
              <a:t>– шаг 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	</a:t>
            </a:r>
            <a:r>
              <a:rPr lang="ru-RU" dirty="0" smtClean="0"/>
              <a:t>Пример</a:t>
            </a:r>
            <a:r>
              <a:rPr lang="ru-RU" dirty="0"/>
              <a:t>: </a:t>
            </a:r>
            <a:r>
              <a:rPr lang="ru-RU" dirty="0" err="1"/>
              <a:t>file</a:t>
            </a:r>
            <a:r>
              <a:rPr lang="ru-RU" dirty="0"/>
              <a:t>{1..7..2}.</a:t>
            </a:r>
            <a:r>
              <a:rPr lang="ru-RU" dirty="0" err="1"/>
              <a:t>txt</a:t>
            </a:r>
            <a:r>
              <a:rPr lang="ru-RU" dirty="0"/>
              <a:t> file1.txt file3.txt file5.txt file7.txt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027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9464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Подстановка и арифметические вычисления</a:t>
            </a:r>
            <a:endParaRPr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473932"/>
            <a:ext cx="11162456" cy="50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Механизм командной подстановки позволяет подставить результат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выполнения команды в другую командную строку: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команда …$(команда …) …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Пример</a:t>
            </a:r>
            <a:r>
              <a:rPr lang="ru-RU" dirty="0"/>
              <a:t>: результат команды </a:t>
            </a:r>
            <a:r>
              <a:rPr lang="ru-RU" dirty="0" err="1"/>
              <a:t>which</a:t>
            </a:r>
            <a:r>
              <a:rPr lang="ru-RU" dirty="0"/>
              <a:t>, которая ищет команду в каталогах из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переменной PATH и выводит ее абсолютное имя, подставляется в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командную строку, выводящую информацию о файле: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</a:t>
            </a:r>
            <a:r>
              <a:rPr lang="ru-RU" dirty="0" err="1" smtClean="0"/>
              <a:t>ls</a:t>
            </a:r>
            <a:r>
              <a:rPr lang="ru-RU" dirty="0" smtClean="0"/>
              <a:t> </a:t>
            </a:r>
            <a:r>
              <a:rPr lang="ru-RU" dirty="0"/>
              <a:t>-l $(</a:t>
            </a:r>
            <a:r>
              <a:rPr lang="ru-RU" dirty="0" err="1"/>
              <a:t>which</a:t>
            </a:r>
            <a:r>
              <a:rPr lang="ru-RU" dirty="0"/>
              <a:t> </a:t>
            </a:r>
            <a:r>
              <a:rPr lang="ru-RU" dirty="0" err="1"/>
              <a:t>passwd</a:t>
            </a:r>
            <a:r>
              <a:rPr lang="ru-RU" dirty="0"/>
              <a:t>)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/>
              <a:t>Целочисленная арифметика выполняется с помощью конструкции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$((число1 операция число2))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Примеры</a:t>
            </a:r>
            <a:r>
              <a:rPr lang="ru-RU" dirty="0"/>
              <a:t>: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	</a:t>
            </a:r>
            <a:r>
              <a:rPr lang="ru-RU" dirty="0" err="1" smtClean="0"/>
              <a:t>echo</a:t>
            </a:r>
            <a:r>
              <a:rPr lang="ru-RU" dirty="0" smtClean="0"/>
              <a:t> </a:t>
            </a:r>
            <a:r>
              <a:rPr lang="ru-RU" dirty="0"/>
              <a:t>$((4 / 2)) → </a:t>
            </a:r>
            <a:r>
              <a:rPr lang="ru-RU" dirty="0" smtClean="0"/>
              <a:t>2</a:t>
            </a: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	</a:t>
            </a:r>
            <a:r>
              <a:rPr lang="ru-RU" dirty="0" err="1" smtClean="0"/>
              <a:t>echo</a:t>
            </a:r>
            <a:r>
              <a:rPr lang="ru-RU" dirty="0" smtClean="0"/>
              <a:t> </a:t>
            </a:r>
            <a:r>
              <a:rPr lang="ru-RU" dirty="0"/>
              <a:t>$(($((2 +3))*5)) → </a:t>
            </a:r>
            <a:r>
              <a:rPr lang="ru-RU" dirty="0" smtClean="0"/>
              <a:t>25</a:t>
            </a: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		A=2</a:t>
            </a:r>
            <a:r>
              <a:rPr lang="ru-RU" dirty="0"/>
              <a:t>; B=5; </a:t>
            </a:r>
            <a:r>
              <a:rPr lang="ru-RU" dirty="0" err="1"/>
              <a:t>echo</a:t>
            </a:r>
            <a:r>
              <a:rPr lang="ru-RU" dirty="0"/>
              <a:t> $((A*B)) → </a:t>
            </a:r>
            <a:r>
              <a:rPr lang="ru-RU" dirty="0" smtClean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329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9464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Маскировка специальных символов</a:t>
            </a:r>
            <a:endParaRPr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473932"/>
            <a:ext cx="11162456" cy="50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'…' – маскировка значений всех специальных символов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“…” – маскировка значений всех специальных символов, кроме $ ` \ !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\ – </a:t>
            </a:r>
            <a:r>
              <a:rPr lang="ru-RU" dirty="0" smtClean="0"/>
              <a:t>маскировка </a:t>
            </a:r>
            <a:r>
              <a:rPr lang="ru-RU" dirty="0"/>
              <a:t>специального значения одного следующего </a:t>
            </a:r>
            <a:r>
              <a:rPr lang="ru-RU" dirty="0" smtClean="0"/>
              <a:t>символа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	touch '$USER.txt' -&gt; </a:t>
            </a:r>
            <a:r>
              <a:rPr lang="ru-RU" dirty="0" smtClean="0"/>
              <a:t>создан файл </a:t>
            </a:r>
            <a:r>
              <a:rPr lang="en-US" dirty="0" smtClean="0"/>
              <a:t>$USER.txt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	</a:t>
            </a:r>
            <a:r>
              <a:rPr lang="en-US" dirty="0" smtClean="0"/>
              <a:t>touch "$USER.txt"</a:t>
            </a:r>
            <a:r>
              <a:rPr lang="ru-RU" dirty="0" smtClean="0"/>
              <a:t> </a:t>
            </a:r>
            <a:r>
              <a:rPr lang="en-US" dirty="0"/>
              <a:t>-&gt; </a:t>
            </a:r>
            <a:r>
              <a:rPr lang="ru-RU" dirty="0"/>
              <a:t>создан файл </a:t>
            </a:r>
            <a:r>
              <a:rPr lang="ru-RU" dirty="0" err="1" smtClean="0"/>
              <a:t>имя_текущего_пользователя</a:t>
            </a:r>
            <a:r>
              <a:rPr lang="en-US" dirty="0" smtClean="0"/>
              <a:t>.txt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/>
              <a:t>	</a:t>
            </a:r>
            <a:r>
              <a:rPr lang="en-US" dirty="0" smtClean="0"/>
              <a:t>touch new\ file.txt -&gt; </a:t>
            </a:r>
            <a:r>
              <a:rPr lang="ru-RU" dirty="0" smtClean="0"/>
              <a:t>создан файл </a:t>
            </a:r>
            <a:r>
              <a:rPr lang="en-US" dirty="0" smtClean="0"/>
              <a:t>new file.txt, </a:t>
            </a:r>
            <a:r>
              <a:rPr lang="ru-RU" dirty="0" smtClean="0"/>
              <a:t>с пробелом в имени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47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Основные команды</a:t>
            </a:r>
            <a:endParaRPr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man – отображение руководства команды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cat – считать файл, вывести содержимого (может быть несколько файлов)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echo – вывести свои аргументы в канал вывода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head – прочитать первые 10 строк любого текса и вывести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head -50 – прочитать и вывести первые 50 строк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tail – прочитать последние 10 строк с конца и вывести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tail -f test.txt – смотреть добавляемые строки в режиме реального времени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98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Основные команды</a:t>
            </a: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267286" y="886264"/>
            <a:ext cx="11816862" cy="578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less – переместиться по файлу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G		Перемещает в конец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g		Перемещает в начало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:50	Перемещает на 50 строку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q		Выход из less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/searchterm	Поиск строки, совпадающей с ‘searchterm’, ниже текущей строки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/			Перемещает на следующий подходящий результат поиска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?searchterm	Поиск строки, совпадающей с ‘searchterm’, выше текущей строки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?			Перемещает на следующий подходящий результат поиска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up		Перемещает на одну строку выше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down		Перемещает на одну строку ниже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pageup		Перемещает на одну страницу выше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pagedown	Перемещает на одну страницу ниже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Основные команды</a:t>
            </a:r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true – возвращает 0 в качестве индикатора успеха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false – возвращает не 0 в качестве статуса неудачи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$? – содержит код возврата программы. 0 – успех, &gt;0 – ошибка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grep – поиск строки в файле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-i		Отключение чувствительности к регистру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-r		Рекурсивный поиск по директориям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-w	Поиск только целых слов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-c		Вывод количества найденных элементов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-n	Вывод всей строки, содержащей запрос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-v		Вывод инвертированного совпадения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Основные команды </a:t>
            </a:r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r>
              <a:rPr lang="ru-RU" dirty="0"/>
              <a:t> – потоковый редактор для преобразования входных текстовых данных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 smtClean="0"/>
              <a:t>export</a:t>
            </a:r>
            <a:r>
              <a:rPr lang="ru-RU" dirty="0" smtClean="0"/>
              <a:t> </a:t>
            </a:r>
            <a:r>
              <a:rPr lang="ru-RU" dirty="0"/>
              <a:t>– установка переменных окружения для передачи дочерним процессам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ps</a:t>
            </a:r>
            <a:r>
              <a:rPr lang="ru-RU" dirty="0"/>
              <a:t> – список запущенных процессов (ID, </a:t>
            </a:r>
            <a:r>
              <a:rPr lang="ru-RU" dirty="0" err="1"/>
              <a:t>terminal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, </a:t>
            </a:r>
            <a:r>
              <a:rPr lang="ru-RU" dirty="0" err="1"/>
              <a:t>time</a:t>
            </a:r>
            <a:r>
              <a:rPr lang="ru-RU" dirty="0"/>
              <a:t>, </a:t>
            </a:r>
            <a:r>
              <a:rPr lang="ru-RU" dirty="0" err="1"/>
              <a:t>cmd</a:t>
            </a:r>
            <a:r>
              <a:rPr lang="ru-RU" dirty="0"/>
              <a:t>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awk</a:t>
            </a:r>
            <a:r>
              <a:rPr lang="ru-RU" dirty="0"/>
              <a:t> – найти и заменить текст в файле по шаблону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ru-RU" dirty="0"/>
              <a:t>История команд</a:t>
            </a:r>
            <a:endParaRPr dirty="0"/>
          </a:p>
        </p:txBody>
      </p:sp>
      <p:sp>
        <p:nvSpPr>
          <p:cNvPr id="145" name="Google Shape;14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История команд хранится в файле, имя которого определяется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переменной HISTFILE (по умолчанию ~/.</a:t>
            </a:r>
            <a:r>
              <a:rPr lang="ru-RU" dirty="0" err="1"/>
              <a:t>bash_history</a:t>
            </a:r>
            <a:r>
              <a:rPr lang="ru-RU" dirty="0"/>
              <a:t>)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Количество хранимых в файле команд определяется переменной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HISTFILESIZE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При запуске командного интерпретатора история команд из файла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загружается в буфер, при выходе из командного интерпретатора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команды из буфера добавляются в файл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Количество команд в буфере определяется переменной HISTSIZE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Вывод всей истории команд - </a:t>
            </a:r>
            <a:r>
              <a:rPr lang="ru-RU" dirty="0" err="1"/>
              <a:t>history</a:t>
            </a: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Вывод указанного количества последних строк - </a:t>
            </a:r>
            <a:r>
              <a:rPr lang="ru-RU" dirty="0" err="1"/>
              <a:t>history</a:t>
            </a:r>
            <a:r>
              <a:rPr lang="ru-RU" dirty="0"/>
              <a:t> число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Команда </a:t>
            </a:r>
            <a:r>
              <a:rPr lang="ru-RU" dirty="0" err="1"/>
              <a:t>history</a:t>
            </a:r>
            <a:r>
              <a:rPr lang="ru-RU" dirty="0"/>
              <a:t> -a добавляет в файл историю команд из буфера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4788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ru-RU" dirty="0"/>
              <a:t>Дополнение имен</a:t>
            </a:r>
            <a:endParaRPr dirty="0"/>
          </a:p>
        </p:txBody>
      </p:sp>
      <p:sp>
        <p:nvSpPr>
          <p:cNvPr id="145" name="Google Shape;145;p11"/>
          <p:cNvSpPr txBox="1">
            <a:spLocks noGrp="1"/>
          </p:cNvSpPr>
          <p:nvPr>
            <p:ph type="body" idx="1"/>
          </p:nvPr>
        </p:nvSpPr>
        <p:spPr>
          <a:xfrm>
            <a:off x="838200" y="1340768"/>
            <a:ext cx="10515600" cy="483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</a:t>
            </a:r>
            <a:r>
              <a:rPr lang="ru-RU" dirty="0" smtClean="0"/>
              <a:t>Интерпретатор </a:t>
            </a:r>
            <a:r>
              <a:rPr lang="ru-RU" dirty="0" err="1"/>
              <a:t>bash</a:t>
            </a:r>
            <a:r>
              <a:rPr lang="ru-RU" dirty="0"/>
              <a:t> умеет дополнять имена файлов, имена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переменных, имена домашних каталогов пользователей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Многие команды также поддерживают дополнение подкоманд,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параметров, значений параметров (</a:t>
            </a:r>
            <a:r>
              <a:rPr lang="ru-RU" dirty="0" err="1"/>
              <a:t>apt</a:t>
            </a:r>
            <a:r>
              <a:rPr lang="ru-RU" dirty="0"/>
              <a:t>, </a:t>
            </a:r>
            <a:r>
              <a:rPr lang="ru-RU" dirty="0" err="1"/>
              <a:t>systemctl</a:t>
            </a:r>
            <a:r>
              <a:rPr lang="ru-RU" dirty="0"/>
              <a:t>, </a:t>
            </a:r>
            <a:r>
              <a:rPr lang="ru-RU" dirty="0" err="1" smtClean="0"/>
              <a:t>useradd</a:t>
            </a:r>
            <a:r>
              <a:rPr lang="ru-RU" dirty="0" smtClean="0"/>
              <a:t> </a:t>
            </a:r>
            <a:r>
              <a:rPr lang="ru-RU" dirty="0"/>
              <a:t>и др.)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/>
              <a:t>• После ввода первых символов следует: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нажать </a:t>
            </a:r>
            <a:r>
              <a:rPr lang="ru-RU" dirty="0"/>
              <a:t>клавишу TAB - если есть только один вариант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	   </a:t>
            </a:r>
            <a:r>
              <a:rPr lang="ru-RU" dirty="0" smtClean="0"/>
              <a:t>продолжения</a:t>
            </a:r>
            <a:r>
              <a:rPr lang="ru-RU" dirty="0"/>
              <a:t>, то строка дополнится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если дополнения не произошло, то следует еще раз нажать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	   </a:t>
            </a:r>
            <a:r>
              <a:rPr lang="ru-RU" dirty="0" smtClean="0"/>
              <a:t>клавишу </a:t>
            </a:r>
            <a:r>
              <a:rPr lang="ru-RU" dirty="0"/>
              <a:t>TAB. После повторного нажатия либо </a:t>
            </a:r>
            <a:r>
              <a:rPr lang="ru-RU" dirty="0" smtClean="0"/>
              <a:t>будут</a:t>
            </a:r>
            <a:endParaRPr lang="en-US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	 </a:t>
            </a:r>
            <a:r>
              <a:rPr lang="en-US" dirty="0" smtClean="0"/>
              <a:t>  </a:t>
            </a:r>
            <a:r>
              <a:rPr lang="ru-RU" dirty="0" smtClean="0"/>
              <a:t>предложены</a:t>
            </a:r>
            <a:r>
              <a:rPr lang="en-US" dirty="0" smtClean="0"/>
              <a:t> </a:t>
            </a:r>
            <a:r>
              <a:rPr lang="ru-RU" dirty="0" smtClean="0"/>
              <a:t>варианты </a:t>
            </a:r>
            <a:r>
              <a:rPr lang="ru-RU" dirty="0"/>
              <a:t>для выбора дополнения или ничего </a:t>
            </a:r>
            <a:r>
              <a:rPr lang="en-US" dirty="0" smtClean="0"/>
              <a:t>	   </a:t>
            </a:r>
            <a:r>
              <a:rPr lang="ru-RU" dirty="0" smtClean="0"/>
              <a:t>не </a:t>
            </a:r>
            <a:r>
              <a:rPr lang="ru-RU" dirty="0"/>
              <a:t>произойдет, </a:t>
            </a:r>
            <a:r>
              <a:rPr lang="ru-RU" dirty="0" smtClean="0"/>
              <a:t>что</a:t>
            </a:r>
            <a:r>
              <a:rPr lang="en-US" dirty="0" smtClean="0"/>
              <a:t> </a:t>
            </a:r>
            <a:r>
              <a:rPr lang="ru-RU" dirty="0" smtClean="0"/>
              <a:t>говорит </a:t>
            </a:r>
            <a:r>
              <a:rPr lang="ru-RU" dirty="0"/>
              <a:t>об ошибке в наборе первых </a:t>
            </a:r>
            <a:r>
              <a:rPr lang="en-US" dirty="0" smtClean="0"/>
              <a:t>  	   	   </a:t>
            </a:r>
            <a:r>
              <a:rPr lang="ru-RU" dirty="0" smtClean="0"/>
              <a:t>символов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0867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Основные команды 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wget – скачать файл из сети в текущий каталог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nc – утилита отладки сети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ping – тестирование сетевого подключения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git – запуск системы контроля версий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окружения</a:t>
            </a:r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Именованные переменные, содержащие значения, используемые приложениями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Переменная PATH содержит список каталогов, в которых система ищет исполняемые файлы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Переменная HOME содержит путь к домашнему каталогу текущего пользователя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Коннекторы </a:t>
            </a:r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Позволяют запускать несколько команд одновременно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&amp;&amp;	Первая команда исполняется всегда, вторая — только в случае успешного завершения первой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||	Первая команда исполняется всегда, вторая — только в случае неудачного завершения первой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;	Команды исполняются всегда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Конвейеры (pipe)</a:t>
            </a:r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Позволяют соединять входные и выходные каналы различных команд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Например </a:t>
            </a:r>
            <a:r>
              <a:rPr lang="ru-RU" b="1"/>
              <a:t>ls –l | head </a:t>
            </a:r>
            <a:r>
              <a:rPr lang="ru-RU"/>
              <a:t>вывод команды ls будет передан в head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Перенаправление вывода</a:t>
            </a:r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перенаправить вывод с экрана в файл ls &gt; file.txt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файла нет, он будет создан. Если есть, то перепишется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Как сделать, чтобы не переписался? Вот так: &gt;&gt; Запись будет добавлена в конец файла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Перенаправление ввода</a:t>
            </a:r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сделать ввод не с клавиатуры, а из файла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sort &lt; file.txt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Информация о правах доступа к файлу</a:t>
            </a:r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ls –l text.txt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 -rw-rw-r--  1  user  group  1097374 January 26 2:48 test.txt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 файл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d каталог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rw-	Права доступа владельца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rw-	Права доступа членов группы-владельца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r—	Права доступа прочих пользователей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user	Имя владельца файла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group	Имя группы-владельца файла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Права доступа к файлу 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chmod меняет права доступа к файлу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u – владелец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g – члены группы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o – прочие пользователи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a – все пользователи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Пример: </a:t>
            </a:r>
            <a:r>
              <a:rPr lang="ru-RU" b="1"/>
              <a:t>chmod ug+rw test.txt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То же самое в бинарном виде: </a:t>
            </a:r>
            <a:r>
              <a:rPr lang="ru-RU" b="1"/>
              <a:t>chmod 660 test.txt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Текстовый редактор</a:t>
            </a:r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ru-RU" b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В любой системе Linux, даже при самой минимальной конфигурации, всегда присутствует текстовый редактор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ru-RU" b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Текстовым редактором, который обязательно запустится из любой командной строки Linux, является Vi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38200" y="95604"/>
            <a:ext cx="10515600" cy="102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Начало работы с vi</a:t>
            </a:r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420858" y="947664"/>
            <a:ext cx="10734822" cy="447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терминале написать команду vi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открыть файл vi file.txt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Терминал становится текстовым редактором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# курсор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~ в этом месте буфера нет ничего, даже пустой строки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6989" y="3459012"/>
            <a:ext cx="5242560" cy="335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Режимы</a:t>
            </a:r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body" idx="1"/>
          </p:nvPr>
        </p:nvSpPr>
        <p:spPr>
          <a:xfrm>
            <a:off x="365760" y="1825625"/>
            <a:ext cx="109880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Командный – нажатие любой клавиши считается командой и выполняется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Вставка – нажатие клавиши приводит к появлению символа в файле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Командная строка – ввод команд, отображаемых на экране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Начало работы vi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0771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Всегда командный режим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Нажатие на любую клавишу – это команда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Есть своя командная строка, для ее запуска нужно нажать 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Главная команда – вызов подсистемы помощь :help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вызвать :help object для получения справки по object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получить справку о том, что делает конкретная кнопка, например help 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Чтобы сделать настройки, используется команда :set имя_настройки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82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Начало работы с vi</a:t>
            </a:r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body" idx="1"/>
          </p:nvPr>
        </p:nvSpPr>
        <p:spPr>
          <a:xfrm>
            <a:off x="838200" y="1406769"/>
            <a:ext cx="10515600" cy="477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Чтобы перейти из командного режима в режим вставки, нужно нажать клавишу i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режиме вставки можно вводить текст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некоторых версиях vi в режиме ввода не работают никакие команды перемещения по тексту. В таком случае исправления вносятся потом в командном режиме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Чтобы выйти из режима вставки обратно в командный режим, нужна клавиша esc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Войти в режим вставки можно разными способами: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O – вводим текст с новой строки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I – вводим текст с начала текущей строки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A – вводим текст в конце строки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Работа с файлами</a:t>
            </a:r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Используя vi, работаем не с файлом, а с буфером. Если открыт существующий файл, его содержимое копируется в буфер. Все изменения производятся именно с буфером, а сам файл не меняется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Чтобы записать изменения в файл, нужна команда </a:t>
            </a:r>
            <a:r>
              <a:rPr lang="ru-RU" b="1"/>
              <a:t>:w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не указать имя файла, то буфер записывается в текущий файл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Файл можно указать в качестве параметра </a:t>
            </a:r>
            <a:r>
              <a:rPr lang="ru-RU" b="1"/>
              <a:t>:w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Выход из vi</a:t>
            </a:r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Команда :q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не хотим сохранять изменения :q 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Перемещение по тексту</a:t>
            </a:r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 редактировании в тексте есть точка, в которой пользователь находится.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Новые символы появляются в точке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Удаляются символы из точки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Перемещение по тексту производится только стрелками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Перемещение по тексту командами</a:t>
            </a: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0 (ноль) – перемещение на начало текущей строки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^ – перемещение на первый непробельный символ в строке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$ –  перемещение на конец строки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G – перемещение в конец файла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gg – перемещение в начало файла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Абзац – фрагмент текста до пустой строки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{ } – перемещение в начало предыдущего/следующего абзаца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Перемещение по тексту командами</a:t>
            </a:r>
            <a:endParaRPr/>
          </a:p>
        </p:txBody>
      </p:sp>
      <p:sp>
        <p:nvSpPr>
          <p:cNvPr id="254" name="Google Shape;25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w – передвинуть курсор на начало следующего слова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b – передвинуть курсор на начало предыдущего слова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( ) – передвинуть курсов к началу предыдущего\следующего предложения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Команду не нужно повторять несколько раз. Используется множитель. Например, 3w – три раза переместить курсор на слово вперед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Поиск шаблона в тексте – это команда перемещения: /шаблон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Перейти в следующее слова по шаблону *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Перейти в предыдущее слово по шаблону #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Удаление текста командами</a:t>
            </a:r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x – удалить символ, на котором стоит курсор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dd – удалить строку, на которой стоит курсор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Гнездовая команда</a:t>
            </a:r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Применяет указанное действие к указанному отрезку текста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cw – заменяет текст от курсора до начала следующего слова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c) –заменяет текст от курсора до начала следующего предложения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Конфигурационный файл с настройками vi</a:t>
            </a:r>
            <a:endParaRPr/>
          </a:p>
        </p:txBody>
      </p:sp>
      <p:sp>
        <p:nvSpPr>
          <p:cNvPr id="272" name="Google Shape;272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/etc/vim/vimrc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Переменная окружения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ru-RU" b="0" i="0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Объекты, которые задаются именами и содержат данные, используемые по крайней мере одним, обычно несколькими приложениями, называются переменными среды. 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ru-RU" b="0" i="0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Значениями переменной среды может быть редактор по умолчанию, который будет использоваться, например, расположение всех файлов, которые могут быть выполнены в системе или локальные настройки для системы. 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ru-RU" dirty="0"/>
              <a:t>Переменные</a:t>
            </a:r>
            <a:endParaRPr dirty="0"/>
          </a:p>
        </p:txBody>
      </p:sp>
      <p:sp>
        <p:nvSpPr>
          <p:cNvPr id="278" name="Google Shape;278;p33"/>
          <p:cNvSpPr txBox="1">
            <a:spLocks noGrp="1"/>
          </p:cNvSpPr>
          <p:nvPr>
            <p:ph type="body" idx="1"/>
          </p:nvPr>
        </p:nvSpPr>
        <p:spPr>
          <a:xfrm>
            <a:off x="838200" y="1412776"/>
            <a:ext cx="10515600" cy="476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buClr>
                <a:srgbClr val="444444"/>
              </a:buClr>
              <a:buSzPts val="2800"/>
            </a:pP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Переменная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– именованная область памяти, значение которой 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может</a:t>
            </a:r>
            <a:r>
              <a:rPr lang="en-US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изменяться</a:t>
            </a:r>
            <a:endParaRPr lang="ru-RU" dirty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444444"/>
              </a:buClr>
              <a:buSzPts val="2800"/>
            </a:pP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Создание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переменной с присвоением ей значения имеет синтаксис:</a:t>
            </a:r>
          </a:p>
          <a:p>
            <a:pPr marL="0" lvl="0" indent="0">
              <a:spcBef>
                <a:spcPts val="0"/>
              </a:spcBef>
              <a:buClr>
                <a:srgbClr val="444444"/>
              </a:buClr>
              <a:buSzPts val="2800"/>
              <a:buNone/>
            </a:pPr>
            <a:r>
              <a:rPr lang="en-US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VAR_NAME=значение</a:t>
            </a:r>
            <a:endParaRPr lang="en-US" dirty="0" smtClean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444444"/>
              </a:buClr>
              <a:buSzPts val="2800"/>
              <a:buNone/>
            </a:pPr>
            <a:endParaRPr lang="ru-RU" dirty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444444"/>
              </a:buClr>
              <a:buSzPts val="2800"/>
            </a:pP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Перед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 после знака = пробелы не допустимы!</a:t>
            </a:r>
          </a:p>
          <a:p>
            <a:pPr indent="-457200">
              <a:spcBef>
                <a:spcPts val="0"/>
              </a:spcBef>
              <a:buClr>
                <a:srgbClr val="444444"/>
              </a:buClr>
              <a:buSzPts val="2800"/>
            </a:pP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Для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получения значения переменной используется 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специальный</a:t>
            </a:r>
            <a:r>
              <a:rPr lang="en-US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символ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«$»</a:t>
            </a:r>
          </a:p>
          <a:p>
            <a:pPr marL="0" lvl="0" indent="0">
              <a:spcBef>
                <a:spcPts val="0"/>
              </a:spcBef>
              <a:buClr>
                <a:srgbClr val="444444"/>
              </a:buClr>
              <a:buSzPts val="2800"/>
              <a:buNone/>
            </a:pPr>
            <a:r>
              <a:rPr lang="en-US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err="1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echo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$VAR_NAME или </a:t>
            </a:r>
            <a:r>
              <a:rPr lang="ru-RU" dirty="0" err="1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echo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${VAR_NAME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}</a:t>
            </a:r>
            <a:endParaRPr lang="en-US" dirty="0" smtClean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444444"/>
              </a:buClr>
              <a:buSzPts val="2800"/>
              <a:buNone/>
            </a:pPr>
            <a:endParaRPr lang="ru-RU" dirty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444444"/>
              </a:buClr>
              <a:buSzPts val="2800"/>
            </a:pP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Удаление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переменной осуществляется 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командой</a:t>
            </a:r>
            <a:endParaRPr lang="en-US" dirty="0" smtClean="0">
              <a:solidFill>
                <a:srgbClr val="444444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indent="0">
              <a:spcBef>
                <a:spcPts val="0"/>
              </a:spcBef>
              <a:buClr>
                <a:srgbClr val="444444"/>
              </a:buClr>
              <a:buSzPts val="2800"/>
              <a:buNone/>
            </a:pPr>
            <a:r>
              <a:rPr lang="en-US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          </a:t>
            </a:r>
            <a:r>
              <a:rPr lang="ru-RU" dirty="0" err="1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unset</a:t>
            </a:r>
            <a:r>
              <a:rPr lang="ru-RU" dirty="0" smtClean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dirty="0">
                <a:solidFill>
                  <a:srgbClr val="44444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VAR_NAME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897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0904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Переменные </a:t>
            </a:r>
            <a:r>
              <a:rPr lang="ru-RU" dirty="0" err="1"/>
              <a:t>bash</a:t>
            </a:r>
            <a:r>
              <a:rPr lang="ru-RU" dirty="0"/>
              <a:t> и переменные окружения</a:t>
            </a:r>
            <a:endParaRPr dirty="0"/>
          </a:p>
        </p:txBody>
      </p:sp>
      <p:sp>
        <p:nvSpPr>
          <p:cNvPr id="284" name="Google Shape;284;p34"/>
          <p:cNvSpPr txBox="1">
            <a:spLocks noGrp="1"/>
          </p:cNvSpPr>
          <p:nvPr>
            <p:ph type="body" idx="1"/>
          </p:nvPr>
        </p:nvSpPr>
        <p:spPr>
          <a:xfrm>
            <a:off x="839416" y="1412776"/>
            <a:ext cx="10515600" cy="525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77800" indent="0">
              <a:buSzPts val="2800"/>
              <a:buNone/>
            </a:pPr>
            <a:r>
              <a:rPr lang="ru-RU" dirty="0"/>
              <a:t>• </a:t>
            </a:r>
            <a:r>
              <a:rPr lang="ru-RU" dirty="0" smtClean="0"/>
              <a:t>Переменные </a:t>
            </a:r>
            <a:r>
              <a:rPr lang="ru-RU" dirty="0"/>
              <a:t>можно разделить на два класса: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	</a:t>
            </a:r>
            <a:r>
              <a:rPr lang="ru-RU" dirty="0" smtClean="0"/>
              <a:t>• переменные </a:t>
            </a:r>
            <a:r>
              <a:rPr lang="ru-RU" dirty="0"/>
              <a:t>командного интерпретатора </a:t>
            </a:r>
            <a:r>
              <a:rPr lang="ru-RU" dirty="0" err="1"/>
              <a:t>bash</a:t>
            </a:r>
            <a:r>
              <a:rPr lang="ru-RU" dirty="0"/>
              <a:t>(</a:t>
            </a:r>
            <a:r>
              <a:rPr lang="ru-RU" dirty="0" err="1"/>
              <a:t>shell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)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	</a:t>
            </a:r>
            <a:r>
              <a:rPr lang="ru-RU" dirty="0" smtClean="0"/>
              <a:t>• </a:t>
            </a:r>
            <a:r>
              <a:rPr lang="ru-RU" dirty="0"/>
              <a:t>переменные окружения (</a:t>
            </a:r>
            <a:r>
              <a:rPr lang="ru-RU" dirty="0" err="1"/>
              <a:t>environment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)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Переменные окружения передаются в процессы, порожденные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командным интерпретатором, а переменные командного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интерпретатора - нет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Команда </a:t>
            </a:r>
            <a:r>
              <a:rPr lang="ru-RU" dirty="0" err="1"/>
              <a:t>export</a:t>
            </a:r>
            <a:r>
              <a:rPr lang="ru-RU" dirty="0"/>
              <a:t> позволяет объявить переменную </a:t>
            </a:r>
            <a:r>
              <a:rPr lang="ru-RU" dirty="0" err="1"/>
              <a:t>bash</a:t>
            </a:r>
            <a:r>
              <a:rPr lang="ru-RU" dirty="0"/>
              <a:t> переменной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окружения</a:t>
            </a:r>
          </a:p>
          <a:p>
            <a:pPr marL="228600" lvl="0" indent="-50800">
              <a:buSzPts val="2800"/>
              <a:buNone/>
            </a:pPr>
            <a:r>
              <a:rPr lang="ru-RU" dirty="0" smtClean="0"/>
              <a:t>		</a:t>
            </a:r>
            <a:r>
              <a:rPr lang="ru-RU" dirty="0" err="1" smtClean="0"/>
              <a:t>export</a:t>
            </a:r>
            <a:r>
              <a:rPr lang="ru-RU" dirty="0" smtClean="0"/>
              <a:t> </a:t>
            </a:r>
            <a:r>
              <a:rPr lang="ru-RU" dirty="0"/>
              <a:t>VAR_NAME или </a:t>
            </a:r>
            <a:r>
              <a:rPr lang="ru-RU" dirty="0" err="1"/>
              <a:t>export</a:t>
            </a:r>
            <a:r>
              <a:rPr lang="ru-RU" dirty="0"/>
              <a:t> VAR_NAME=значение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Получить список всех переменных можно командой </a:t>
            </a:r>
            <a:r>
              <a:rPr lang="ru-RU" dirty="0" err="1"/>
              <a:t>set</a:t>
            </a:r>
            <a:endParaRPr lang="ru-RU" dirty="0"/>
          </a:p>
          <a:p>
            <a:pPr marL="228600" lvl="0" indent="-50800">
              <a:buSzPts val="2800"/>
              <a:buNone/>
            </a:pPr>
            <a:r>
              <a:rPr lang="ru-RU" dirty="0"/>
              <a:t>• Получить список переменных окружения можно командой </a:t>
            </a:r>
            <a:r>
              <a:rPr lang="ru-RU" dirty="0" err="1"/>
              <a:t>printenv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по умолчанию</a:t>
            </a:r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body" idx="1"/>
          </p:nvPr>
        </p:nvSpPr>
        <p:spPr>
          <a:xfrm>
            <a:off x="233265" y="1825625"/>
            <a:ext cx="1183121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$ echo $PATH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/usr/local/sbin:/usr/local/bin:/usr/sbin/:usr/bin/:/usr/games:/usr/local/games:/bin:/sbin:/snap/bin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Можно добавить свои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>
            <a:spLocks noGrp="1"/>
          </p:cNvSpPr>
          <p:nvPr>
            <p:ph type="title"/>
          </p:nvPr>
        </p:nvSpPr>
        <p:spPr>
          <a:xfrm>
            <a:off x="838200" y="53071"/>
            <a:ext cx="10515600" cy="1142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Bash Shell Bourne</a:t>
            </a:r>
            <a:endParaRPr/>
          </a:p>
        </p:txBody>
      </p:sp>
      <p:sp>
        <p:nvSpPr>
          <p:cNvPr id="326" name="Google Shape;326;p41"/>
          <p:cNvSpPr txBox="1">
            <a:spLocks noGrp="1"/>
          </p:cNvSpPr>
          <p:nvPr>
            <p:ph type="body" idx="1"/>
          </p:nvPr>
        </p:nvSpPr>
        <p:spPr>
          <a:xfrm>
            <a:off x="365760" y="1378634"/>
            <a:ext cx="11826240" cy="542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CDPATH: список каталогов, разделенных двоеточиями, используемых в качестве пути поиска для команды cd.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HOME: домашний каталог текущего пользователя.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IFS: список символов, которые разделяют поля, используемые оболочкой для разделения текстовых строк.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MAIL: имя файла для почтового ящика текущего пользователя. Оболочка bash проверяет этот файл для новой почты.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MAILPATH: список из нескольких имен файлов для почтового ящика текущего пользователя. Оболочка bash проверяет каждый файл в этом списке для новой почты.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OPTARG: значение последнего аргумента параметра, обрабатываемого командой getopts.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OPTIND: значение индекса последнего аргумента параметра, обработанного командой getopts.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PATH: список каталогов, разделенных двоеточиями, где оболочка ищет команды.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PS1: строка приглашения командной строки основной командной строки.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PS2: строка приглашения интерфейса командной строки вторичной оболочки.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85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Shell bash</a:t>
            </a:r>
            <a:endParaRPr/>
          </a:p>
        </p:txBody>
      </p:sp>
      <p:sp>
        <p:nvSpPr>
          <p:cNvPr id="332" name="Google Shape;332;p42"/>
          <p:cNvSpPr txBox="1">
            <a:spLocks noGrp="1"/>
          </p:cNvSpPr>
          <p:nvPr>
            <p:ph type="body" idx="1"/>
          </p:nvPr>
        </p:nvSpPr>
        <p:spPr>
          <a:xfrm>
            <a:off x="196948" y="985373"/>
            <a:ext cx="11887200" cy="572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BASH: полное имя пути для выполнения текущего экземпляра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BASH_ENV: при установке каждый сценарий bash пытается запустить файл запуска, определенный этой переменной перед запуском.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BASH_VERSION: номер версии текущего экземпляра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BASH_VERSINFO: массив переменных, содержащий отдельные основные и младшие номера версий текущего экземпляра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COLUMNS: содержит ширину терминала терминала, используемую для текущего экземпляра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COMP_CWORD: индекс в переменной COMP_WORDS, который содержит текущую позицию курсора.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COMP_LINE: текущая командная строка.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COMP_POINT: индекс текущей позиции курсора относительно начала текущей команды.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COMP_WORDS: переменный массив, содержащий отдельные слова в текущей командной строке.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COMPREPLY: переменный массив, содержащий возможные коды завершения, генерируемые функцией оболочки.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4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Shell bash</a:t>
            </a:r>
            <a:endParaRPr/>
          </a:p>
        </p:txBody>
      </p:sp>
      <p:sp>
        <p:nvSpPr>
          <p:cNvPr id="338" name="Google Shape;338;p43"/>
          <p:cNvSpPr txBox="1">
            <a:spLocks noGrp="1"/>
          </p:cNvSpPr>
          <p:nvPr>
            <p:ph type="body" idx="1"/>
          </p:nvPr>
        </p:nvSpPr>
        <p:spPr>
          <a:xfrm>
            <a:off x="0" y="746222"/>
            <a:ext cx="12192000" cy="611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DIRSTACK: массив переменных, содержащий текущее содержимое стека директорий.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EUID: эффективный идентификатор пользователя текущего пользователя.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FCEDIT: редактор по умолчанию, используемый командой fc.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FIGNORE: список суффиксов, разделенных двоеточиями, для игнорирования при выполнении завершения имени файла.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FUNCNAME: имя исполняемой в данный момент функции оболочки.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GLOBIGNORE: список разделенных двоеточиями шаблонов, определяющих набор имен файлов, которые следует игнорировать, расширяя имя файла.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GROUPS: переменный массив, содержащий список групп, членом которого является текущий пользователь.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histchars: до трех символов, которые управляют расширением истории.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HISTCMD: номер истории текущей команды.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HISTCONTROL: Управляет тем, какие команды вводятся в списке истории оболочки.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HISTFILE: имя файла для сохранения списка истории оболочки (по умолчанию — история .bash).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HISTFILESIZE: максимальное количество строк для сохранения в файле истории.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HISTIGNORE: список шаблонов, разделенных двоеточием, используемый для определения того, какие команды игнорируются для файла истории.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HISTSIZE: максимальное количество команд, хранящихся в файле истории.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Shell bash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body" idx="1"/>
          </p:nvPr>
        </p:nvSpPr>
        <p:spPr>
          <a:xfrm>
            <a:off x="0" y="844062"/>
            <a:ext cx="12192000" cy="601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HOSTFILE: содержит имя файла, который должен быть прочитан, когда оболочке необходимо заполнить имя хоста.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HOSTNAME: имя текущего хоста.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HOSTTYPE: Строка, описывающая машину bash-shell, работает.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IGNOREEOF: количество последовательных символов EOF, которые должна получить оболочка перед выходом. Если это значение не существует, по умолчанию оно равно единице.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INPUTRC: имя файла инициализации Readline (по умолчанию — .inputrc).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LANG: категория локали для оболочки.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LC_ALL: переопределяет переменную LANG, определяя категорию локали.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LC_COLLATE: устанавливает порядок сортировки, используемый при сортировке строковых значений.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LC_CTYPE: Определяет интерпретацию символов, используемых при расширении имени файла и сопоставлении с образцом.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LC_MESSAGES: определяет параметр локали, используемый при интерпретации строк с двойными кавычками, которым предшествует знак доллара.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LC_NUMERIC: указывает локальную настройку, используемую для форматирования чисел.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title"/>
          </p:nvPr>
        </p:nvSpPr>
        <p:spPr>
          <a:xfrm>
            <a:off x="978877" y="0"/>
            <a:ext cx="10515600" cy="74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Shell bash</a:t>
            </a:r>
            <a:endParaRPr/>
          </a:p>
        </p:txBody>
      </p:sp>
      <p:sp>
        <p:nvSpPr>
          <p:cNvPr id="350" name="Google Shape;350;p45"/>
          <p:cNvSpPr txBox="1">
            <a:spLocks noGrp="1"/>
          </p:cNvSpPr>
          <p:nvPr>
            <p:ph type="body" idx="1"/>
          </p:nvPr>
        </p:nvSpPr>
        <p:spPr>
          <a:xfrm>
            <a:off x="0" y="746222"/>
            <a:ext cx="12192000" cy="611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LINENO: номер строки в исполняемом скрипте.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LINES: Определяет количество линий, доступных на терминале.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MACHTYPE: строка, определяющая тип системы в формате cpu-company-system.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MAILCHECK: как часто оболочка должна проверять (по умолчанию 60 секунд) для новой почты.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OLDPWD: предыдущий рабочий каталог, используемый в оболочке.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OPTERR: если установлено значение 1, оболочка bash отображает ошибки, сгенерированные командой getopts.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OSTYPE: Строка, определяющая операционную систему, в которой работает оболочка.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PIPESTATUS: переменный массив, содержащий список значений статуса выхода из процессов процесса переднего плана.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POSIXLY_CORRECT: если установлено, bash запускается в режиме POSIX.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PPID: идентификатор процесса (PID) родительского процесса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PROMPT_COMMAND: если установлено, команда для выполнения перед отображением первичного приглашения.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1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среды Shell bash</a:t>
            </a:r>
            <a:endParaRPr/>
          </a:p>
        </p:txBody>
      </p:sp>
      <p:sp>
        <p:nvSpPr>
          <p:cNvPr id="356" name="Google Shape;356;p46"/>
          <p:cNvSpPr txBox="1">
            <a:spLocks noGrp="1"/>
          </p:cNvSpPr>
          <p:nvPr>
            <p:ph type="body" idx="1"/>
          </p:nvPr>
        </p:nvSpPr>
        <p:spPr>
          <a:xfrm>
            <a:off x="0" y="915034"/>
            <a:ext cx="12192000" cy="594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PS3: приглашение использовать команду select.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PS4: подсказка, отображаемая до того, как командная строка будет эхом, если используется параметр bash -x.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PWD: текущий рабочий каталог.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RANDOM: возвращает случайное число от 0 до 32767. Присвоение значения этой переменной сгенерирует генератор случайных чисел.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REPLY: переменная по умолчанию для команды чтения.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SECONDS: количество секунд с момента запуска оболочки. Присвоение значения сбрасывает таймер на значение.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SHELLOPTS: список разрешенных опций оболочки bash, разделенных двоеточием.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SHLVL: указывает уровень оболочки, увеличивающийся на единицу при каждом запуске новой оболочки bash.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TIMEFORMAT: формат, определяющий, как оболочка отображает значения времени.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TMOUT: значение того, как долго (в секундах) команды выбора и чтения должны ждать ввода. Значение по умолчанию, равное нулю, означает, что нужно ждать бесконечно.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UID: реальный идентификатор пользователя текущего пользователя.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946432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Мультиплексор терминалов - утилита </a:t>
            </a:r>
            <a:r>
              <a:rPr lang="en-US" dirty="0"/>
              <a:t>screen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412776"/>
            <a:ext cx="10515600" cy="496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Утилита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предназначена для запуска и управления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множественными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псевдотерминалами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и позволяет пользователям: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Запускать многооконные сессии с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работающими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	 	  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процессами в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отсоединенном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режиме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Подключаться к отсоединенной сессии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Получать список сессий и окон внутри сессий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Переключаться между окнами внутри сессий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Принудительно завершать окна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Журналировать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вывод, поступающий на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окна</a:t>
            </a:r>
            <a:endParaRPr lang="ru-RU" sz="4000" dirty="0"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Использование мультиплексора особенно  полезно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в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тех случаях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когда пользователь использует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удаленный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терминальный доступ (например,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ssh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946432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 smtClean="0"/>
              <a:t>Утилита </a:t>
            </a:r>
            <a:r>
              <a:rPr lang="en-US" dirty="0" smtClean="0"/>
              <a:t>screen</a:t>
            </a:r>
            <a:r>
              <a:rPr lang="ru-RU" dirty="0" smtClean="0"/>
              <a:t>: командная строка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41277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ls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 просмотр списка сессий, запущенных утилитой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(сама команда с параметром -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ls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новую сессию не запускает);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-S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имя_сессий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-d -m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командная_строка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 создается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псевдотерминал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с заданным именем в отсоединенном состоянии,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на котором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в ведущем окне запускается указанная командная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строка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Примечание: рекомендуется задавать «говорящие» имена сессий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например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связанные с именем запускаемой программой.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Иначе будет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сформировано имя сессии по умолчанию);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-r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имя_сессии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- подсоединение к сессии, работающей в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отсоединенном режиме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.</a:t>
            </a: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71354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946432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 smtClean="0"/>
              <a:t>Утилита </a:t>
            </a:r>
            <a:r>
              <a:rPr lang="en-US" dirty="0" smtClean="0"/>
              <a:t>screen</a:t>
            </a:r>
            <a:r>
              <a:rPr lang="ru-RU" dirty="0" smtClean="0"/>
              <a:t>:</a:t>
            </a:r>
            <a:r>
              <a:rPr lang="en-US" dirty="0" smtClean="0"/>
              <a:t> </a:t>
            </a:r>
            <a:r>
              <a:rPr lang="ru-RU" dirty="0" smtClean="0"/>
              <a:t>управляющие команды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41277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В рамках сессии, созданной утилитой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можно использовать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управляющие команды. Управляющие команды начинаются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комбинацией клавиш </a:t>
            </a:r>
            <a:r>
              <a:rPr lang="ru-RU" dirty="0" err="1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Ctrl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-a:</a:t>
            </a:r>
            <a:endParaRPr lang="ru-R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Ctrl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-a ? - вывести информацию об управляющих командах;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•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Ctrl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-a " - список окон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c - создать новое окно;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d - отсоединиться от текущей сессии;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n - переход в следующее окно;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p - переход в предыдущее окно;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k - принудительно завершить текущее окно;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Ctrl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-a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- изменить название окно.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062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</a:t>
            </a:r>
            <a:r>
              <a:rPr lang="en-US" dirty="0" smtClean="0"/>
              <a:t>. </a:t>
            </a:r>
            <a:r>
              <a:rPr lang="ru-RU" dirty="0" smtClean="0"/>
              <a:t>Раздел 1. </a:t>
            </a:r>
            <a:endParaRPr sz="3100"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052736"/>
            <a:ext cx="1051560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0. 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Отчет – команды и результаты в файле 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pdf.</a:t>
            </a:r>
            <a:endParaRPr lang="ru-RU" sz="2000" dirty="0" smtClean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Подключитесь к серверу для выполнения практических работ, используя клиент для протокола </a:t>
            </a:r>
            <a:r>
              <a:rPr lang="en-US" sz="2000" dirty="0" err="1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ssh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: </a:t>
            </a:r>
            <a:r>
              <a:rPr lang="en-US" sz="2000" dirty="0" err="1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ssh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putty, </a:t>
            </a:r>
            <a:r>
              <a:rPr lang="en-US" sz="2000" dirty="0" err="1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smartty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(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попробуйте их все и остановитесь на наиболее удобном для вас).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Запустите новую сессию 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утилиты </a:t>
            </a:r>
            <a:r>
              <a:rPr lang="ru-RU" sz="2000" dirty="0" err="1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с именем по умолчанию, посмотрите список подключенных пользователей командой </a:t>
            </a:r>
            <a:r>
              <a:rPr lang="en-US" sz="2000" b="1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w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отключитесь от сессии.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Запустите отсоединенную сессию утилиты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, при этом запустите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в этой 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сессии команду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top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. Назовите сессию именем «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top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».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Получите 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список сессий, созданных утилитой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Подсоединитесь к сессии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top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еще одно окно в сессии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top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созданном окне выполните команду: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watch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usr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bin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vmstat</a:t>
            </a: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Получите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список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окон.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Переименуйте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второе окно как «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vmstat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».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Перейдите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 окно, в котором работает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top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Отсоединитесь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от сессии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top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Запустите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новую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сессию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и запустите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 окне команду: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vi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report_part1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txt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14.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Отсоединитесь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от сессии и получите список сессий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60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1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052736"/>
            <a:ext cx="1051560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15.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Отключитесь от сервера, используя команду 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logout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или комбинацию клавиш </a:t>
            </a:r>
            <a:r>
              <a:rPr lang="en-US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Ctrl+D</a:t>
            </a:r>
            <a:endParaRPr lang="en-US" sz="20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16.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Подключитесь к серверу (как в п.1), и получите список сессий 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17.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Подключитесь к сессии с редактором и запишите в файл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ФИО часть 1 модуля 1 успешно завершена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дата и время</a:t>
            </a:r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18.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Закройте редактор, сохранив файл и закройте все сессии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screen.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710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911424" y="116632"/>
            <a:ext cx="10515600" cy="68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2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764704"/>
            <a:ext cx="10515600" cy="576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Запустите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новую сессию с именем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whoami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part2"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 Все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команды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и результаты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сохраняйте в файле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$USER_part.log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, проследите за тем, чтобы он не содержал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esc-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последовательности форматирования и расцветки.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 помощью механизма дополнения имен команд выведите все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команды, которые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начинаются на «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».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 помощью механизма дополнения имен переменных выведите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все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переменные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, которые начинаются с «HIST».</a:t>
            </a: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Узнайте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, сколько команд может храниться в файле истории.</a:t>
            </a: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Выведите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имена файлов и каталогов из домашнего каталога,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которые начинаются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«.».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Настройте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вывод даты выполнения команд, хранящихся в истории.</a:t>
            </a:r>
          </a:p>
          <a:p>
            <a:pPr lvl="0" indent="-4572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Настройте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автоматическое сохранение набираемых команд в файле истории:</a:t>
            </a:r>
          </a:p>
          <a:p>
            <a:pPr marL="800100" lvl="1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введите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любую команду, например, команду 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800100" lvl="1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проверьте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есть ли эта команда в кэше и файле истории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команд;</a:t>
            </a:r>
          </a:p>
          <a:p>
            <a:pPr marL="800100" lvl="1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определить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переменную PROMPT_COMMAND так, чтобы кэш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истории сохранялся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	файле истории;</a:t>
            </a:r>
          </a:p>
          <a:p>
            <a:pPr marL="800100" lvl="1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ввести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любую команду и проверить, появилась ли эта команда в кэше и</a:t>
            </a:r>
          </a:p>
          <a:p>
            <a:pPr marL="0" lvl="0" indent="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файле истории.</a:t>
            </a:r>
          </a:p>
        </p:txBody>
      </p:sp>
    </p:spTree>
    <p:extLst>
      <p:ext uri="{BB962C8B-B14F-4D97-AF65-F5344CB8AC3E}">
        <p14:creationId xmlns:p14="http://schemas.microsoft.com/office/powerpoint/2010/main" val="484107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2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052736"/>
            <a:ext cx="10873208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переменную DATE, в которую запишите текущую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дату.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Проверьте содержимое переменной.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переменную TIME, в которую запишите текущее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время.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Проверьте содержимое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переменной.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 startAt="12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переменную DATE_TIME в которую поместите значения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из переменных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DATE и TIME, разделенных пробелом. Проверьте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содержимое переменной.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 startAt="12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Выведите имена файлов, содержащие хотя бы одну цифру, из каталогов /</a:t>
            </a:r>
            <a:r>
              <a:rPr lang="ru-R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bin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sbin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 startAt="12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Измените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приглашение так, чтобы выводились имя хоста, имя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пользователя и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время: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имя_пользователя@имя_хоста-HH:MM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&gt; 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(Используйте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переменные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и команду </a:t>
            </a:r>
            <a:r>
              <a:rPr lang="ru-R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 startAt="12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Сделайте так, чтобы в запускаемом интерпретаторе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выводилось приглашение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, установленное в родительском интерпретаторе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AutoNum type="arabicPeriod" startAt="12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Одной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командной строкой создайте в домашнем каталоге подкаталоги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для каждого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месяца текущего года вида YYYY-MM(год реализуйте с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помощью команды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и командной подстановки).</a:t>
            </a:r>
          </a:p>
        </p:txBody>
      </p:sp>
    </p:spTree>
    <p:extLst>
      <p:ext uri="{BB962C8B-B14F-4D97-AF65-F5344CB8AC3E}">
        <p14:creationId xmlns:p14="http://schemas.microsoft.com/office/powerpoint/2010/main" val="14723983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3</a:t>
            </a:r>
            <a:endParaRPr dirty="0"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39416" y="1052736"/>
            <a:ext cx="10873208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Перейдите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 домашний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каталог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файл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$USER_part3.log.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Используемые в разделе 3 команды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и их результаты дописывайте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файл командой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echo,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не забудьте про экранирование.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Создайте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иерархию вложенных каталогов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D1/D2/D3.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каталоге D2 создайте обычный пустой файл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file.txt.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Добавьте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произвольный текст в файл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file.txt.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каталоге D3 создайте символическую и жесткие ссылки на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file.txt.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Докажите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, что ссылки созданы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успешно.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Переместите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файл file.txt в каталог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D1.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Проверьте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работу ранее созданных ссылок на файл file.txt. Какая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ссылка оказалась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рабочей и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почему?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Удалите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каталог D2 со всем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содержимым.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Найдите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все файлы в системе размером больше 2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0МБ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. Убедитесь в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том (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du)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что найденные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файлы имеют нужный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размер. Запишите в файл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$USER_part3_gt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0M.log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список найденных файлов.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домашнем каталоге и его подкаталогах найдите обычные файлы, которые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были изменены в течение последних 24х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часов.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каком каталоге находится команда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Определите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характер содержимого файла </a:t>
            </a:r>
            <a:r>
              <a:rPr lang="ru-RU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командой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file.</a:t>
            </a:r>
          </a:p>
          <a:p>
            <a:pPr lvl="0" indent="-457200">
              <a:spcBef>
                <a:spcPts val="0"/>
              </a:spcBef>
              <a:buClr>
                <a:srgbClr val="000000"/>
              </a:buClr>
              <a:buFont typeface="+mj-lt"/>
              <a:buAutoNum type="arabicPeriod" startAt="10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Установите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, к какому типу относятся файлы /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boot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initrd.img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*.</a:t>
            </a:r>
          </a:p>
        </p:txBody>
      </p:sp>
    </p:spTree>
    <p:extLst>
      <p:ext uri="{BB962C8B-B14F-4D97-AF65-F5344CB8AC3E}">
        <p14:creationId xmlns:p14="http://schemas.microsoft.com/office/powerpoint/2010/main" val="38323665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3386</Words>
  <Application>Microsoft Office PowerPoint</Application>
  <PresentationFormat>Произвольный</PresentationFormat>
  <Paragraphs>475</Paragraphs>
  <Slides>58</Slides>
  <Notes>58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4" baseType="lpstr">
      <vt:lpstr>Arial</vt:lpstr>
      <vt:lpstr>Calibri</vt:lpstr>
      <vt:lpstr>Merriweather Sans</vt:lpstr>
      <vt:lpstr>Times New Roman</vt:lpstr>
      <vt:lpstr>Roboto</vt:lpstr>
      <vt:lpstr>Тема Office</vt:lpstr>
      <vt:lpstr>Элтекс</vt:lpstr>
      <vt:lpstr>BASH</vt:lpstr>
      <vt:lpstr>Структура команды</vt:lpstr>
      <vt:lpstr>Многострочные команды</vt:lpstr>
      <vt:lpstr>Доступ к BASH</vt:lpstr>
      <vt:lpstr>Полная документация BASH</vt:lpstr>
      <vt:lpstr>Преимущества BASH</vt:lpstr>
      <vt:lpstr>Преимущества BASH</vt:lpstr>
      <vt:lpstr>Навигация по файловой системе</vt:lpstr>
      <vt:lpstr>Использование символов подстановки</vt:lpstr>
      <vt:lpstr>Генерация строк</vt:lpstr>
      <vt:lpstr>Подстановка и арифметические вычисления</vt:lpstr>
      <vt:lpstr>Маскировка специальных символов</vt:lpstr>
      <vt:lpstr>Основные команды</vt:lpstr>
      <vt:lpstr>Основные команды</vt:lpstr>
      <vt:lpstr>Основные команды</vt:lpstr>
      <vt:lpstr>Основные команды </vt:lpstr>
      <vt:lpstr>История команд</vt:lpstr>
      <vt:lpstr>Дополнение имен</vt:lpstr>
      <vt:lpstr>Основные команды </vt:lpstr>
      <vt:lpstr>Переменные окружения</vt:lpstr>
      <vt:lpstr>Коннекторы </vt:lpstr>
      <vt:lpstr>Конвейеры (pipe)</vt:lpstr>
      <vt:lpstr>Перенаправление вывода</vt:lpstr>
      <vt:lpstr>Перенаправление ввода</vt:lpstr>
      <vt:lpstr>Информация о правах доступа к файлу</vt:lpstr>
      <vt:lpstr>Права доступа к файлу </vt:lpstr>
      <vt:lpstr>Текстовый редактор</vt:lpstr>
      <vt:lpstr>Начало работы с vi</vt:lpstr>
      <vt:lpstr>Режимы</vt:lpstr>
      <vt:lpstr>Начало работы vi</vt:lpstr>
      <vt:lpstr>Начало работы с vi</vt:lpstr>
      <vt:lpstr>Работа с файлами</vt:lpstr>
      <vt:lpstr>Выход из vi</vt:lpstr>
      <vt:lpstr>Перемещение по тексту</vt:lpstr>
      <vt:lpstr>Перемещение по тексту командами</vt:lpstr>
      <vt:lpstr>Перемещение по тексту командами</vt:lpstr>
      <vt:lpstr>Удаление текста командами</vt:lpstr>
      <vt:lpstr>Гнездовая команда</vt:lpstr>
      <vt:lpstr>Конфигурационный файл с настройками vi</vt:lpstr>
      <vt:lpstr>Переменная окружения</vt:lpstr>
      <vt:lpstr>Переменные</vt:lpstr>
      <vt:lpstr>Переменные bash и переменные окружения</vt:lpstr>
      <vt:lpstr>Переменные среды по умолчанию</vt:lpstr>
      <vt:lpstr>Переменные среды Bash Shell Bourne</vt:lpstr>
      <vt:lpstr>Переменные среды Shell bash</vt:lpstr>
      <vt:lpstr>Переменные среды Shell bash</vt:lpstr>
      <vt:lpstr>Переменные среды Shell bash</vt:lpstr>
      <vt:lpstr>Переменные среды Shell bash</vt:lpstr>
      <vt:lpstr>Переменные среды Shell bash</vt:lpstr>
      <vt:lpstr>Мультиплексор терминалов - утилита screen</vt:lpstr>
      <vt:lpstr>Утилита screen: командная строка</vt:lpstr>
      <vt:lpstr>Утилита screen: управляющие команды</vt:lpstr>
      <vt:lpstr>Задания. Раздел 1. </vt:lpstr>
      <vt:lpstr>Задания. Раздел 1</vt:lpstr>
      <vt:lpstr>Задания. Раздел 2</vt:lpstr>
      <vt:lpstr>Задания. Раздел 2</vt:lpstr>
      <vt:lpstr>Задания. Раздел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Элтекс</dc:title>
  <dc:creator>nes</dc:creator>
  <cp:lastModifiedBy>Sergei</cp:lastModifiedBy>
  <cp:revision>32</cp:revision>
  <dcterms:created xsi:type="dcterms:W3CDTF">2022-10-06T02:43:08Z</dcterms:created>
  <dcterms:modified xsi:type="dcterms:W3CDTF">2026-10-07T09:27:53Z</dcterms:modified>
</cp:coreProperties>
</file>